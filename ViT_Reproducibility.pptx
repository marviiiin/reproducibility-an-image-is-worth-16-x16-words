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68" r:id="rId4"/>
    <p:sldId id="258" r:id="rId5"/>
    <p:sldId id="257" r:id="rId6"/>
    <p:sldId id="270" r:id="rId7"/>
    <p:sldId id="272" r:id="rId8"/>
    <p:sldId id="259" r:id="rId9"/>
    <p:sldId id="260" r:id="rId10"/>
    <p:sldId id="261" r:id="rId11"/>
    <p:sldId id="262" r:id="rId12"/>
    <p:sldId id="271" r:id="rId13"/>
    <p:sldId id="263" r:id="rId14"/>
    <p:sldId id="264" r:id="rId15"/>
    <p:sldId id="265" r:id="rId16"/>
    <p:sldId id="266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Top-1 %</c:v>
                </c:pt>
              </c:strCache>
            </c:strRef>
          </c:tx>
          <c:spPr>
            <a:solidFill>
              <a:srgbClr val="14B8A6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F1-45FB-BA24-DAE1F6B9E5A0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F1-45FB-BA24-DAE1F6B9E5A0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129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Our reproduction</c:v>
                </c:pt>
                <c:pt idx="1">
                  <c:v>Original paper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98.68</c:v>
                </c:pt>
                <c:pt idx="1">
                  <c:v>98.95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F1-45FB-BA24-DAE1F6B9E5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129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9.2"/>
          <c:min val="98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42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BC56C-5F87-1B5B-5992-BDF14F92A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7E89A-56C8-04AC-B0B3-0831B3F9E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847A34-ED91-D2B6-9170-474469114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BEAD1-E815-C465-3E70-A449331690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42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0E511-39E5-22A4-341D-F18E5AC5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164E6-87CC-59CA-5682-F660B7526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E9F59-A034-A02C-F4FB-0C512162B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96B4E-DD70-7BFE-6956-01B4D20A41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26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1931E-B4C4-038F-3B7D-E64884A2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5A67E-948F-726F-BF51-C5CBC0B49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30F2E-A5CF-CEF9-413F-B188C01CA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B582C-9442-1465-28FF-1A83323A31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94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E4D6D-8966-6D92-5D32-99A17F5B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BB4FE-7658-7A5C-D5E4-D478655D2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7A4CA-C599-F59F-CB9C-CFE5642F7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7EB44-FE4C-866F-DF90-C02E3FAAD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871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5C741-88AF-0121-78EF-93203D40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51D6D-CBE1-72CF-6C67-D972BA68A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E379D-3302-8B27-63FC-FE9D84006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0B73C-7573-EFC5-5D2A-C8AC966251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11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0656" y="202941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STUDY  ·  ICLR 2021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64529" y="88541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Image is Worth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519169" y="1648225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r>
              <a:rPr lang="en-US" sz="6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Words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519169" y="2516905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Transformers for Image Recognition at Scale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20445" y="33711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Reproducibility Study  ·  ViT-Base/16 on CIFAR-10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Dosovitskiy et al., ICLR 2021  ·  arXiv:2010.11929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D2895-F160-699D-63D9-464EC924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8A15AE-C065-FA6D-050B-3B03F7794E34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SHIFT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457800-39A9-044C-4E0C-004049B014AE}"/>
              </a:ext>
            </a:extLst>
          </p:cNvPr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36"/>
                </a:solidFill>
                <a:latin typeface="Georgia" pitchFamily="34" charset="0"/>
              </a:rPr>
              <a:t>Introduction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E01BC9-DA18-2ED2-5419-9D2224FE716C}"/>
              </a:ext>
            </a:extLst>
          </p:cNvPr>
          <p:cNvSpPr/>
          <p:nvPr/>
        </p:nvSpPr>
        <p:spPr>
          <a:xfrm>
            <a:off x="548640" y="1463040"/>
            <a:ext cx="457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96794CC-B6FD-60AF-E352-FDE50A1AE329}"/>
              </a:ext>
            </a:extLst>
          </p:cNvPr>
          <p:cNvSpPr/>
          <p:nvPr/>
        </p:nvSpPr>
        <p:spPr>
          <a:xfrm>
            <a:off x="715384" y="2299851"/>
            <a:ext cx="8563088" cy="172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Core Idea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the standard Transformer — originally built for NLP — directly to images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modifications: keep the architecture, change only the input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→ sequence of patches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image into fixed-size patches, linearly embed each one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Patches are treated as "tokens," analogous to words in NLP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end-to-end on image classification with supervised learning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574DE27-CEFA-1DE3-5DC1-C7C0EFF7D0C9}"/>
              </a:ext>
            </a:extLst>
          </p:cNvPr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0066549-0E23-1D09-BAC8-99C5F523CA4B}"/>
              </a:ext>
            </a:extLst>
          </p:cNvPr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Reproducibility  ·  CIFAR-10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A37B0C7-1B2A-CE4D-BA2C-39E8756F8C44}"/>
              </a:ext>
            </a:extLst>
          </p:cNvPr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4213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AAF7E-9D00-83E4-643C-ED00706D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AE096A-32AF-7CE0-A249-6BC127A79B66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844167-4CFB-3608-A027-E6D8B5606772}"/>
              </a:ext>
            </a:extLst>
          </p:cNvPr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idea: images as sequences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08823A-818A-C77B-7FD0-40AAA639971F}"/>
              </a:ext>
            </a:extLst>
          </p:cNvPr>
          <p:cNvSpPr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0CE60F-68D6-B256-B148-29C1A08BE476}"/>
              </a:ext>
            </a:extLst>
          </p:cNvPr>
          <p:cNvSpPr/>
          <p:nvPr/>
        </p:nvSpPr>
        <p:spPr>
          <a:xfrm>
            <a:off x="548640" y="21031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Transformer — with no convolutions — can classify images competitively if given enough data. Chop the image into fixed patches, treat each patch as a "word," and let self-attention do the rest.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A5FE08-5DDA-6BA1-C4BE-2F7A9EB9D6C3}"/>
              </a:ext>
            </a:extLst>
          </p:cNvPr>
          <p:cNvSpPr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Mattered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2D3227-2490-C4DD-DCF9-AA65D94D919C}"/>
              </a:ext>
            </a:extLst>
          </p:cNvPr>
          <p:cNvSpPr/>
          <p:nvPr/>
        </p:nvSpPr>
        <p:spPr>
          <a:xfrm>
            <a:off x="54864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architecture across vision and language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hand-crafted inductive biases than CNNs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gracefully with data and compute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9BAE0F4-9D3C-EF81-1FD0-E4B1691F57B8}"/>
              </a:ext>
            </a:extLst>
          </p:cNvPr>
          <p:cNvSpPr/>
          <p:nvPr/>
        </p:nvSpPr>
        <p:spPr>
          <a:xfrm>
            <a:off x="6583680" y="1737360"/>
            <a:ext cx="502920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18D3F1B-4A14-0B03-AABB-27F26B8F496B}"/>
              </a:ext>
            </a:extLst>
          </p:cNvPr>
          <p:cNvSpPr/>
          <p:nvPr/>
        </p:nvSpPr>
        <p:spPr>
          <a:xfrm>
            <a:off x="676656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image → sequence of patches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C0BA8A8-C6ED-FCCA-217B-880B5AC4CAB6}"/>
              </a:ext>
            </a:extLst>
          </p:cNvPr>
          <p:cNvSpPr/>
          <p:nvPr/>
        </p:nvSpPr>
        <p:spPr>
          <a:xfrm>
            <a:off x="7040880" y="2423160"/>
            <a:ext cx="512064" cy="512064"/>
          </a:xfrm>
          <a:prstGeom prst="rect">
            <a:avLst/>
          </a:prstGeom>
          <a:solidFill>
            <a:srgbClr val="E0F2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6AE749F-FC77-2304-63C6-06D505775669}"/>
              </a:ext>
            </a:extLst>
          </p:cNvPr>
          <p:cNvSpPr/>
          <p:nvPr/>
        </p:nvSpPr>
        <p:spPr>
          <a:xfrm>
            <a:off x="7589520" y="2423160"/>
            <a:ext cx="512064" cy="512064"/>
          </a:xfrm>
          <a:prstGeom prst="rect">
            <a:avLst/>
          </a:prstGeom>
          <a:solidFill>
            <a:srgbClr val="B2DFD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172E4D3-6D84-7405-C3B7-8796AEB633FD}"/>
              </a:ext>
            </a:extLst>
          </p:cNvPr>
          <p:cNvSpPr/>
          <p:nvPr/>
        </p:nvSpPr>
        <p:spPr>
          <a:xfrm>
            <a:off x="8138160" y="2423160"/>
            <a:ext cx="512064" cy="512064"/>
          </a:xfrm>
          <a:prstGeom prst="rect">
            <a:avLst/>
          </a:prstGeom>
          <a:solidFill>
            <a:srgbClr val="80CB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621A621-7982-CAE7-C8F8-4D8F05D1F146}"/>
              </a:ext>
            </a:extLst>
          </p:cNvPr>
          <p:cNvSpPr/>
          <p:nvPr/>
        </p:nvSpPr>
        <p:spPr>
          <a:xfrm>
            <a:off x="8686800" y="2423160"/>
            <a:ext cx="512064" cy="512064"/>
          </a:xfrm>
          <a:prstGeom prst="rect">
            <a:avLst/>
          </a:prstGeom>
          <a:solidFill>
            <a:srgbClr val="4DB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F469C59-CD27-B7B6-43E4-B8CDE268F75B}"/>
              </a:ext>
            </a:extLst>
          </p:cNvPr>
          <p:cNvSpPr/>
          <p:nvPr/>
        </p:nvSpPr>
        <p:spPr>
          <a:xfrm>
            <a:off x="7040880" y="2971800"/>
            <a:ext cx="512064" cy="512064"/>
          </a:xfrm>
          <a:prstGeom prst="rect">
            <a:avLst/>
          </a:prstGeom>
          <a:solidFill>
            <a:srgbClr val="B2DFD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737ECD6-A638-7A58-0A93-AFCED0C27115}"/>
              </a:ext>
            </a:extLst>
          </p:cNvPr>
          <p:cNvSpPr/>
          <p:nvPr/>
        </p:nvSpPr>
        <p:spPr>
          <a:xfrm>
            <a:off x="7589520" y="2971800"/>
            <a:ext cx="512064" cy="512064"/>
          </a:xfrm>
          <a:prstGeom prst="rect">
            <a:avLst/>
          </a:prstGeom>
          <a:solidFill>
            <a:srgbClr val="80CB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D2A21F9-1ADF-3F43-B06E-44B674067F8F}"/>
              </a:ext>
            </a:extLst>
          </p:cNvPr>
          <p:cNvSpPr/>
          <p:nvPr/>
        </p:nvSpPr>
        <p:spPr>
          <a:xfrm>
            <a:off x="8138160" y="2971800"/>
            <a:ext cx="512064" cy="512064"/>
          </a:xfrm>
          <a:prstGeom prst="rect">
            <a:avLst/>
          </a:prstGeom>
          <a:solidFill>
            <a:srgbClr val="4DB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9B31B26-3516-60C1-17FB-8E9AB972C502}"/>
              </a:ext>
            </a:extLst>
          </p:cNvPr>
          <p:cNvSpPr/>
          <p:nvPr/>
        </p:nvSpPr>
        <p:spPr>
          <a:xfrm>
            <a:off x="8686800" y="2971800"/>
            <a:ext cx="512064" cy="512064"/>
          </a:xfrm>
          <a:prstGeom prst="rect">
            <a:avLst/>
          </a:prstGeom>
          <a:solidFill>
            <a:srgbClr val="26A6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4142345-F3EB-49C3-0AB6-FFF0A0E3B7F8}"/>
              </a:ext>
            </a:extLst>
          </p:cNvPr>
          <p:cNvSpPr/>
          <p:nvPr/>
        </p:nvSpPr>
        <p:spPr>
          <a:xfrm>
            <a:off x="7040880" y="3520440"/>
            <a:ext cx="512064" cy="512064"/>
          </a:xfrm>
          <a:prstGeom prst="rect">
            <a:avLst/>
          </a:prstGeom>
          <a:solidFill>
            <a:srgbClr val="80CB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951FB57-6EBC-6CC8-B85B-6C5FDD133436}"/>
              </a:ext>
            </a:extLst>
          </p:cNvPr>
          <p:cNvSpPr/>
          <p:nvPr/>
        </p:nvSpPr>
        <p:spPr>
          <a:xfrm>
            <a:off x="7589520" y="3520440"/>
            <a:ext cx="512064" cy="512064"/>
          </a:xfrm>
          <a:prstGeom prst="rect">
            <a:avLst/>
          </a:prstGeom>
          <a:solidFill>
            <a:srgbClr val="4DB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43FE67D-188B-EE31-F708-A9FC081E3818}"/>
              </a:ext>
            </a:extLst>
          </p:cNvPr>
          <p:cNvSpPr/>
          <p:nvPr/>
        </p:nvSpPr>
        <p:spPr>
          <a:xfrm>
            <a:off x="8138160" y="3520440"/>
            <a:ext cx="512064" cy="512064"/>
          </a:xfrm>
          <a:prstGeom prst="rect">
            <a:avLst/>
          </a:prstGeom>
          <a:solidFill>
            <a:srgbClr val="26A6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9DFBA48-20F3-0DC9-FCA9-F23465230EE3}"/>
              </a:ext>
            </a:extLst>
          </p:cNvPr>
          <p:cNvSpPr/>
          <p:nvPr/>
        </p:nvSpPr>
        <p:spPr>
          <a:xfrm>
            <a:off x="8686800" y="3520440"/>
            <a:ext cx="512064" cy="512064"/>
          </a:xfrm>
          <a:prstGeom prst="rect">
            <a:avLst/>
          </a:prstGeom>
          <a:solidFill>
            <a:srgbClr val="0096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7DB05A5-8B54-5048-DC70-0128D89B978C}"/>
              </a:ext>
            </a:extLst>
          </p:cNvPr>
          <p:cNvSpPr/>
          <p:nvPr/>
        </p:nvSpPr>
        <p:spPr>
          <a:xfrm>
            <a:off x="7040880" y="4069080"/>
            <a:ext cx="512064" cy="512064"/>
          </a:xfrm>
          <a:prstGeom prst="rect">
            <a:avLst/>
          </a:prstGeom>
          <a:solidFill>
            <a:srgbClr val="4DB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20EC712-52E0-B9CF-7379-43BD0D504EA2}"/>
              </a:ext>
            </a:extLst>
          </p:cNvPr>
          <p:cNvSpPr/>
          <p:nvPr/>
        </p:nvSpPr>
        <p:spPr>
          <a:xfrm>
            <a:off x="7589520" y="4069080"/>
            <a:ext cx="512064" cy="512064"/>
          </a:xfrm>
          <a:prstGeom prst="rect">
            <a:avLst/>
          </a:prstGeom>
          <a:solidFill>
            <a:srgbClr val="26A6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6377112-438D-B913-9077-024947B790AE}"/>
              </a:ext>
            </a:extLst>
          </p:cNvPr>
          <p:cNvSpPr/>
          <p:nvPr/>
        </p:nvSpPr>
        <p:spPr>
          <a:xfrm>
            <a:off x="8138160" y="4069080"/>
            <a:ext cx="512064" cy="512064"/>
          </a:xfrm>
          <a:prstGeom prst="rect">
            <a:avLst/>
          </a:prstGeom>
          <a:solidFill>
            <a:srgbClr val="0096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A10D6AB-C7AE-6DB2-089C-457BDCD2480F}"/>
              </a:ext>
            </a:extLst>
          </p:cNvPr>
          <p:cNvSpPr/>
          <p:nvPr/>
        </p:nvSpPr>
        <p:spPr>
          <a:xfrm>
            <a:off x="8686800" y="4069080"/>
            <a:ext cx="512064" cy="512064"/>
          </a:xfrm>
          <a:prstGeom prst="rect">
            <a:avLst/>
          </a:prstGeom>
          <a:solidFill>
            <a:srgbClr val="00897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9CDD661-5637-CEAE-625D-43A7BA85A594}"/>
              </a:ext>
            </a:extLst>
          </p:cNvPr>
          <p:cNvSpPr/>
          <p:nvPr/>
        </p:nvSpPr>
        <p:spPr>
          <a:xfrm>
            <a:off x="937260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4DBE25F-5DA2-7683-D805-2C6EE1563601}"/>
              </a:ext>
            </a:extLst>
          </p:cNvPr>
          <p:cNvSpPr/>
          <p:nvPr/>
        </p:nvSpPr>
        <p:spPr>
          <a:xfrm>
            <a:off x="10012680" y="3337560"/>
            <a:ext cx="237744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D9758AE-2383-506A-CE10-FC1F59A77DC0}"/>
              </a:ext>
            </a:extLst>
          </p:cNvPr>
          <p:cNvSpPr/>
          <p:nvPr/>
        </p:nvSpPr>
        <p:spPr>
          <a:xfrm>
            <a:off x="10287000" y="3337560"/>
            <a:ext cx="237744" cy="237744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87C9803-C891-818F-8F46-4E5364A64AC9}"/>
              </a:ext>
            </a:extLst>
          </p:cNvPr>
          <p:cNvSpPr/>
          <p:nvPr/>
        </p:nvSpPr>
        <p:spPr>
          <a:xfrm>
            <a:off x="10561320" y="3337560"/>
            <a:ext cx="237744" cy="237744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A00D03C-8BC0-C3C6-7F0B-A5DA1A1D6F78}"/>
              </a:ext>
            </a:extLst>
          </p:cNvPr>
          <p:cNvSpPr/>
          <p:nvPr/>
        </p:nvSpPr>
        <p:spPr>
          <a:xfrm>
            <a:off x="10835640" y="3337560"/>
            <a:ext cx="237744" cy="237744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DEB6039-4017-E9B2-50CB-9B710634757A}"/>
              </a:ext>
            </a:extLst>
          </p:cNvPr>
          <p:cNvSpPr/>
          <p:nvPr/>
        </p:nvSpPr>
        <p:spPr>
          <a:xfrm>
            <a:off x="11109960" y="3337560"/>
            <a:ext cx="237744" cy="237744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D296D62-39A7-DD29-E1A2-838FABACCC10}"/>
              </a:ext>
            </a:extLst>
          </p:cNvPr>
          <p:cNvSpPr/>
          <p:nvPr/>
        </p:nvSpPr>
        <p:spPr>
          <a:xfrm>
            <a:off x="11430000" y="32918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4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9B2EFB0-1C77-15BC-10E8-D49B57921E9D}"/>
              </a:ext>
            </a:extLst>
          </p:cNvPr>
          <p:cNvSpPr/>
          <p:nvPr/>
        </p:nvSpPr>
        <p:spPr>
          <a:xfrm>
            <a:off x="6766560" y="5029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token (teal) + patch tokens → Transformer</a:t>
            </a:r>
            <a:endParaRPr lang="en-US" sz="11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B022779-1DDE-5742-B416-F942BE6DFE32}"/>
              </a:ext>
            </a:extLst>
          </p:cNvPr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1E795A9-3DAA-2AE8-4A41-5C4636F3B0D9}"/>
              </a:ext>
            </a:extLst>
          </p:cNvPr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Reproducibility  ·  CIFAR-10</a:t>
            </a:r>
            <a:endParaRPr lang="en-US" sz="1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8116EF6-B398-187B-905B-28386D8F8E9E}"/>
              </a:ext>
            </a:extLst>
          </p:cNvPr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0227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PARADIGM SHIFT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Vision Transformer vs. Convolutional Nets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CNN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Convolutional Neural Network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filter sees a small neighborhood only.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Translation equivariance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into the weight-sharing of convolutions.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Hierarchy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Features coarsen with depth via pooling.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Data-efficient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 priors → learns from smaller datasets.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8368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ViT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Vision Transformer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Global attention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patch can attend to every other patch.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Minimal inductive bias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Position is only known through a learned embedding.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Flat, uniform structure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 block repeated L times — no pooling hierarchy.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Data-hungry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Needs ~14M+ images to match CNN priors.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ViT Reproducibility  ·  CIFAR-10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/ 12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Reproducibility  ·  CIFAR-10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012639E-FE0B-12F9-FFE4-0FD15DDBD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078" y="928503"/>
            <a:ext cx="6585922" cy="3434594"/>
          </a:xfrm>
          <a:prstGeom prst="rect">
            <a:avLst/>
          </a:prstGeom>
        </p:spPr>
      </p:pic>
      <p:sp>
        <p:nvSpPr>
          <p:cNvPr id="40" name="Text 1">
            <a:extLst>
              <a:ext uri="{FF2B5EF4-FFF2-40B4-BE49-F238E27FC236}">
                <a16:creationId xmlns:a16="http://schemas.microsoft.com/office/drawing/2014/main" id="{BFECD641-7109-B638-3DA0-8D790C828F12}"/>
              </a:ext>
            </a:extLst>
          </p:cNvPr>
          <p:cNvSpPr/>
          <p:nvPr/>
        </p:nvSpPr>
        <p:spPr>
          <a:xfrm>
            <a:off x="3703320" y="1786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Transformer</a:t>
            </a:r>
            <a:endParaRPr lang="en-US" sz="3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CCCF7D-9D3D-1E48-2DAE-856E2A766B66}"/>
              </a:ext>
            </a:extLst>
          </p:cNvPr>
          <p:cNvSpPr txBox="1"/>
          <p:nvPr/>
        </p:nvSpPr>
        <p:spPr>
          <a:xfrm>
            <a:off x="275208" y="1464816"/>
            <a:ext cx="52378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image to sequence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∈ ℝ^(H×W×C)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split into N patches of size P×P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patch is flattened and linearly projected to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D-dim embedding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"patch embedding")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a sequence of N tokens, where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HW/P²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F6F6BB-E608-E017-2734-6D87AF30A440}"/>
              </a:ext>
            </a:extLst>
          </p:cNvPr>
          <p:cNvSpPr txBox="1"/>
          <p:nvPr/>
        </p:nvSpPr>
        <p:spPr>
          <a:xfrm>
            <a:off x="275208" y="3469882"/>
            <a:ext cx="45453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token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learnable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[class] token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prepended to the sequence (BERT-style)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final output serves as the image representation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head: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with one hidden layer during pre-training; single linear layer during fine-tuning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7E979-1F69-2491-1BCD-56155B71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919593-5502-BFFF-B047-2DA4E04DA920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841371E-C9CE-6E49-A9BD-CF5BAE6B2A58}"/>
              </a:ext>
            </a:extLst>
          </p:cNvPr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4BAD16B-C1F3-6493-2558-C3E2C0E02965}"/>
              </a:ext>
            </a:extLst>
          </p:cNvPr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Reproducibility  ·  CIFAR-10</a:t>
            </a:r>
            <a:endParaRPr lang="en-US" sz="1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EFCA91E-5D86-8FE8-73DA-07DC3CAA62EE}"/>
              </a:ext>
            </a:extLst>
          </p:cNvPr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19D51AA-7AB7-DE3E-48CF-79556D919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078" y="928503"/>
            <a:ext cx="6585922" cy="3434594"/>
          </a:xfrm>
          <a:prstGeom prst="rect">
            <a:avLst/>
          </a:prstGeom>
        </p:spPr>
      </p:pic>
      <p:sp>
        <p:nvSpPr>
          <p:cNvPr id="40" name="Text 1">
            <a:extLst>
              <a:ext uri="{FF2B5EF4-FFF2-40B4-BE49-F238E27FC236}">
                <a16:creationId xmlns:a16="http://schemas.microsoft.com/office/drawing/2014/main" id="{AC54EF45-DFD6-0300-1A75-C3745191DA94}"/>
              </a:ext>
            </a:extLst>
          </p:cNvPr>
          <p:cNvSpPr/>
          <p:nvPr/>
        </p:nvSpPr>
        <p:spPr>
          <a:xfrm>
            <a:off x="3703320" y="1786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Transformer</a:t>
            </a:r>
            <a:endParaRPr lang="en-US" sz="3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45848C-EFCE-B3BD-7A81-642A9C7659B8}"/>
              </a:ext>
            </a:extLst>
          </p:cNvPr>
          <p:cNvSpPr txBox="1"/>
          <p:nvPr/>
        </p:nvSpPr>
        <p:spPr>
          <a:xfrm>
            <a:off x="275208" y="1464816"/>
            <a:ext cx="5237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embeddings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learnable 1D position embeddings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added to patch embeddings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2D-aware variants tested but gave no significant gains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D4F1BC-D545-25CB-BCB3-0C6F604777F6}"/>
              </a:ext>
            </a:extLst>
          </p:cNvPr>
          <p:cNvSpPr txBox="1"/>
          <p:nvPr/>
        </p:nvSpPr>
        <p:spPr>
          <a:xfrm>
            <a:off x="275208" y="3469882"/>
            <a:ext cx="45453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encoder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 Self-Attention (MSA)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blocks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block,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connections after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111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CD55C-3372-1FB8-CB0F-61827CF54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3AC952-A239-7145-17C7-127F2C8F0654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9DB46F3-2A3C-03A0-C44C-F7A4E4051CC4}"/>
              </a:ext>
            </a:extLst>
          </p:cNvPr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66220B5-B8B9-6EC3-04C0-FDE0E0508F71}"/>
              </a:ext>
            </a:extLst>
          </p:cNvPr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Reproducibility  ·  CIFAR-10</a:t>
            </a:r>
            <a:endParaRPr lang="en-US" sz="1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EF835B9-E667-3D24-06CE-26DAB137E472}"/>
              </a:ext>
            </a:extLst>
          </p:cNvPr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715E13A9-A926-8134-FD54-360730C99ACA}"/>
              </a:ext>
            </a:extLst>
          </p:cNvPr>
          <p:cNvSpPr/>
          <p:nvPr/>
        </p:nvSpPr>
        <p:spPr>
          <a:xfrm>
            <a:off x="3703320" y="1786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Inspecting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3EEBD7-EA6F-D2C5-514E-596089B004DD}"/>
              </a:ext>
            </a:extLst>
          </p:cNvPr>
          <p:cNvSpPr txBox="1"/>
          <p:nvPr/>
        </p:nvSpPr>
        <p:spPr>
          <a:xfrm>
            <a:off x="301839" y="1207363"/>
            <a:ext cx="1042238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It Learn?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 embedding filters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layer linearly projects flattened patches into a lower-dim space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principal components resemble plausible basis functions for representing patch structure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embeddings learn 2D structure (even though they're 1D)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Closer patches → more similar embeddings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Row-column structure emerges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naturally; same-row/same-column patches share similar embeddings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distance ≈ receptive field in CNNs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far across the image each attention head looks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layers: mixed behavior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some heads attend globally, others stay highly local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distance grows with depth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deeper layers integrate information more globally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attends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semantically relevant regions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60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How the Vision Transformer works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846320" cy="530352"/>
          </a:xfrm>
          <a:prstGeom prst="rect">
            <a:avLst/>
          </a:prstGeom>
          <a:solidFill>
            <a:srgbClr val="DBEA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63240" y="17190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(B, 3, 224, 224)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971800" y="2221992"/>
            <a:ext cx="0" cy="1005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4846320" cy="530352"/>
          </a:xfrm>
          <a:prstGeom prst="rect">
            <a:avLst/>
          </a:prstGeom>
          <a:solidFill>
            <a:srgbClr val="BFDB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3591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Patch Embedding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0" y="23591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Conv2d P=16, s=16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71800" y="2862072"/>
            <a:ext cx="0" cy="1005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4846320" cy="530352"/>
          </a:xfrm>
          <a:prstGeom prst="rect">
            <a:avLst/>
          </a:prstGeom>
          <a:solidFill>
            <a:srgbClr val="CCFBF1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29992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[CLS] + Patches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63240" y="29992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(B, 197, 768)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971800" y="3502152"/>
            <a:ext cx="0" cy="1005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4846320" cy="530352"/>
          </a:xfrm>
          <a:prstGeom prst="rect">
            <a:avLst/>
          </a:prstGeom>
          <a:solidFill>
            <a:srgbClr val="CCFBF1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36393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 Pos. Embedding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063240" y="363931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learnable 1D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971800" y="4142232"/>
            <a:ext cx="0" cy="1005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4846320" cy="530352"/>
          </a:xfrm>
          <a:prstGeom prst="rect">
            <a:avLst/>
          </a:prstGeom>
          <a:solidFill>
            <a:srgbClr val="FED7A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5800" y="4279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Transformer × 12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063240" y="427939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LN → MSA → LN → MLP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971800" y="4782312"/>
            <a:ext cx="0" cy="1005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4846320" cy="530352"/>
          </a:xfrm>
          <a:prstGeom prst="rect">
            <a:avLst/>
          </a:prstGeom>
          <a:solidFill>
            <a:srgbClr val="D1FAE5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5800" y="4919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CLS → Linear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63240" y="49194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Linear(768, 10)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971800" y="5422392"/>
            <a:ext cx="0" cy="1005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4846320" cy="530352"/>
          </a:xfrm>
          <a:prstGeom prst="rect">
            <a:avLst/>
          </a:prstGeom>
          <a:solidFill>
            <a:srgbClr val="D1FAE5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85800" y="55595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 Logits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063240" y="55595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(B, 10)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52160" y="1691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Anatomy of the Encoder Block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852160" y="2148840"/>
            <a:ext cx="576072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126480" y="2286000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26364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3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LayerNorm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126480" y="2660904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63640" y="26609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3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Multi-Head Self-Attention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26480" y="3035808"/>
            <a:ext cx="5212080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63640" y="30358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3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 Residual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26480" y="3410712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263640" y="34107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3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LayerNorm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126480" y="3785616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263640" y="37856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3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MLP (GELU, ratio = 4)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126480" y="4160520"/>
            <a:ext cx="5212080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26364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3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 Residual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852160" y="475488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CLS token</a:t>
            </a:r>
            <a:r>
              <a:rPr lang="en-US" sz="11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a learnable vector prepended to the sequence; its output is used for classification.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Patch size 16</a:t>
            </a:r>
            <a:r>
              <a:rPr lang="en-US" sz="11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224×224 image ÷ 16 = 14×14 grid = 196 patches + 1 CLS = 197 tokens.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Embedding dim 768</a:t>
            </a:r>
            <a:r>
              <a:rPr lang="en-US" sz="11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each token is a 768-dim vector throughout the network (ViT-Base).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ViT Reproducibility  ·  CIFAR-10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 embedding: turning pixels into tokens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Conv2d layer with kernel = stride = 16 does two things at once: it slices the image into non-overlapping 16×16 patches and projects each one into a 768-dimensional vector. No overlapping receptive fields — each pixel belongs to exactly one token.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 (224×224 input)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× 14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3172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grid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31720" y="4892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tokens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303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31720" y="5303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token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715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31720" y="5715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sequence length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1737360"/>
            <a:ext cx="4937760" cy="4526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1874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transformation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0" y="2377440"/>
            <a:ext cx="4389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9440" y="2377440"/>
            <a:ext cx="54864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2651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3, 224, 224)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RGB pixels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0" y="3182112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49440" y="3310128"/>
            <a:ext cx="4389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49440" y="3310128"/>
            <a:ext cx="54864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Conv2d(3→768, k=16, s=16)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584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768, 14, 14)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3813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vector per patch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0" y="4114800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49440" y="4242816"/>
            <a:ext cx="4389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49440" y="4242816"/>
            <a:ext cx="54864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3232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 transpose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45171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196, 768)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47457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 tokens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0" y="5047488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49440" y="5175504"/>
            <a:ext cx="4389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49440" y="5175504"/>
            <a:ext cx="54864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32320" y="52212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 [CLS]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0" y="54498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197, 768)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0" y="56784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transformer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Reproducibility  ·  CIFAR-10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COMPONENT 2 OF 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Multi-head self-attention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00" cy="109728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Attention(Q, K, V) = softmax( Q Kᵀ / √dₖ ) · V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the equation does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token projects into three roles: </a:t>
            </a: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Query</a:t>
            </a: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</a:t>
            </a: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</a:t>
            </a: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dot product Q·Kᵀ measures how much each token wants to listen to every other token.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Softmax turns those scores into a distribution that sums to 1.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token's output is a weighted blend of all Values — a global, content-aware mix.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0" y="1737360"/>
            <a:ext cx="4297680" cy="4526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4380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Multi-head: 12 parallel attentions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35240" y="2377440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35240" y="23774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03920" y="2377440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03920" y="23774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372600" y="2377440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372600" y="23774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241280" y="2377440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41280" y="23774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35240" y="2990088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35240" y="299008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03920" y="2990088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03920" y="299008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372600" y="2990088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372600" y="299008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241280" y="2990088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241280" y="299008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35240" y="3602736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635240" y="360273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503920" y="3602736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03920" y="360273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h10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372600" y="3602736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372600" y="360273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h11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241280" y="3602736"/>
            <a:ext cx="777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241280" y="360273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h12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54380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768</a:t>
            </a:r>
            <a:r>
              <a:rPr lang="en-US" sz="13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÷ </a:t>
            </a:r>
            <a:r>
              <a:rPr lang="en-US" sz="13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 heads</a:t>
            </a:r>
            <a:r>
              <a:rPr lang="en-US" sz="13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= </a:t>
            </a:r>
            <a:r>
              <a:rPr lang="en-US" sz="1300" b="1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64</a:t>
            </a:r>
            <a:r>
              <a:rPr lang="en-US" sz="13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dims/head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543800" y="48463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head looks at a different subspace — some learn local structure, some learn long-range relationships. Their outputs are concatenated and projected back to 768.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ViT Reproducibility  ·  CIFAR-10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/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COMPONENT 3 OF 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MLP, residuals, and the CLS token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ƒ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MLP with ratio 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independently to every token after attention.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linear layers with GELU activation in between: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768 → 3072 → 768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i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Expanding to 4× gives the network the width it needs to mix features learned by attention.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361188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34840" y="1828800"/>
            <a:ext cx="361188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09160" y="214884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91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+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0916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Residual connections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338328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sub-layer is wrapped in an additive shortcut: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 = x + SubLayer( LayerNorm(x) 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Critical for training 12 stacked blocks — gradients flow through the skip path without vanishing.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21040" y="1828800"/>
            <a:ext cx="361188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321040" y="1828800"/>
            <a:ext cx="361188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595360" y="214884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953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★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9536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[CLS] token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95360" y="338328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learnable vector prepended to the sequence before the transformer sees it.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Through 12 layers of attention it aggregates information from every patch.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i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Only its final state is sent to the classification head.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ViT Reproducibility  ·  CIFAR-10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/ 12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3129D0-1335-8DB8-8EC8-F55A53B32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DF5DFD-3E7A-5B79-C812-D2E118A30B8B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72D9FD4-1E3D-5216-93B0-A433A42FBA65}"/>
              </a:ext>
            </a:extLst>
          </p:cNvPr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06D5CD0-1523-B30D-1352-A71981185113}"/>
              </a:ext>
            </a:extLst>
          </p:cNvPr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Reproducibility  ·  CIFAR-10</a:t>
            </a:r>
            <a:endParaRPr lang="en-US" sz="1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59D69D5-8092-C398-DC76-386CFC5B7D55}"/>
              </a:ext>
            </a:extLst>
          </p:cNvPr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8C0842D3-66EA-1CB7-00D4-E33BD7DABD88}"/>
              </a:ext>
            </a:extLst>
          </p:cNvPr>
          <p:cNvSpPr/>
          <p:nvPr/>
        </p:nvSpPr>
        <p:spPr>
          <a:xfrm>
            <a:off x="3703320" y="1786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Claims &amp; Results</a:t>
            </a:r>
            <a:endParaRPr lang="en-US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B38B24-B165-CC1F-4329-81965F83F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16" y="1412524"/>
            <a:ext cx="8945220" cy="3191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8766D9-640D-2B8D-1DD4-525301941837}"/>
              </a:ext>
            </a:extLst>
          </p:cNvPr>
          <p:cNvSpPr txBox="1"/>
          <p:nvPr/>
        </p:nvSpPr>
        <p:spPr>
          <a:xfrm>
            <a:off x="630314" y="864496"/>
            <a:ext cx="3231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Pretraining Data Requirement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2FE329-DB56-6B06-7200-B5230B909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827" y="3751500"/>
            <a:ext cx="8468907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68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REPRODUCTION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Experimental setup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57784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Model &amp;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Backbone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88036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ViT-Base/16 (pretrained on ImageNet-21k)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8036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CIFAR-10 — 60 000 × 32×32 images, 10 classes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 resolution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8036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Upsampled to 224 × 224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Patch size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8036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16 × 16  →  14×14 = 196 tokens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Sequence length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80360" y="4023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197 (196 patches + 1 [CLS])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Embedding dim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880360" y="4434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768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Heads / Layers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880360" y="4846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 / 12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5257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Parameters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88036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≈ 86 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" y="5669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Classifier head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880360" y="5669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Linear(768, 10)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1737360"/>
            <a:ext cx="521208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512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Data pipeline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675120" y="2377440"/>
            <a:ext cx="4663440" cy="25603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812280" y="246888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transforms.Compose([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Resize((224, 224)),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RandomHorizontalFlip(p=0.5),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ColorJitter(0.2, 0.2, 0.2, 0.1),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Normalize(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CA5A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mean=[0.485, 0.456, 0.406],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CA5A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std =[0.229, 0.224, 0.225]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])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75120" y="50749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Note: </a:t>
            </a:r>
            <a:r>
              <a:rPr lang="en-US" sz="1400" i="1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mean / std values are ImageNet statistics — a telltale sign of fine-tuning a pretrained backbone.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ViT Reproducibility  ·  CIFAR-10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/ 12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FINE-TUNING RECIPE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Training configuration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⚙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 err="1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AdamW</a:t>
            </a:r>
            <a:r>
              <a:rPr lang="en-US" sz="16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6118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2011680"/>
            <a:ext cx="594360" cy="59436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0916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▼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4068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Learning rate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9160" y="27432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Warmup → cosine decay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peak LR = 0.001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36118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595360" y="2011680"/>
            <a:ext cx="594360" cy="59436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9536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⎙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2688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95360" y="27432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Cross-entropy (10 classes)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 smoothing disabled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6118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4343400"/>
            <a:ext cx="594360" cy="59436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⎘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5448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Batch size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64 per GPU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mixed precision (fp16)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434840" y="4069080"/>
            <a:ext cx="36118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09160" y="4343400"/>
            <a:ext cx="594360" cy="59436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0916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↻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4068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Schedule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09160" y="50749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≈ 10 000 steps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~1 hour on a single 8 GB GPU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21040" y="4069080"/>
            <a:ext cx="36118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95360" y="4343400"/>
            <a:ext cx="594360" cy="59436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9536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◉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32688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95360" y="50749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Top-1 accuracy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 CIFAR-10 test set (10 000 imgs)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ViT Reproducibility  ·  CIFAR-10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/ 12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close to the paper?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REPRODUCTION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98.68%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68680" y="23545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ViT-Base/16 fine-tuned at 224×224</a:t>
            </a:r>
            <a:endParaRPr lang="en-US" sz="1300" b="1" dirty="0"/>
          </a:p>
        </p:txBody>
      </p:sp>
      <p:sp>
        <p:nvSpPr>
          <p:cNvPr id="12" name="Text 10"/>
          <p:cNvSpPr/>
          <p:nvPr/>
        </p:nvSpPr>
        <p:spPr>
          <a:xfrm>
            <a:off x="868680" y="30861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9669" y="35890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ViT-Base/16 fine-tuned at 384×384</a:t>
            </a:r>
            <a:endParaRPr lang="en-US" sz="1300" b="1" dirty="0"/>
          </a:p>
        </p:txBody>
      </p:sp>
      <p:sp>
        <p:nvSpPr>
          <p:cNvPr id="15" name="Text 13"/>
          <p:cNvSpPr/>
          <p:nvPr/>
        </p:nvSpPr>
        <p:spPr>
          <a:xfrm>
            <a:off x="667512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583680" y="224028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707367" y="5029200"/>
            <a:ext cx="108140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gap. A likely contributor: we upsampled to 224×224 (196 patches) while the paper used 384×384 (576 patches) — fewer spatial tokens, less granular information per image.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Reproducibility  ·  CIFAR-10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3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Structural Limitations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2" name="Text 780"/>
          <p:cNvSpPr/>
          <p:nvPr/>
        </p:nvSpPr>
        <p:spPr>
          <a:xfrm>
            <a:off x="3559264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Known structural limitations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5" name="Text 783"/>
          <p:cNvSpPr/>
          <p:nvPr/>
        </p:nvSpPr>
        <p:spPr>
          <a:xfrm>
            <a:off x="3742144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6" name="Text 784"/>
          <p:cNvSpPr/>
          <p:nvPr/>
        </p:nvSpPr>
        <p:spPr>
          <a:xfrm>
            <a:off x="4382224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spatial inductive bias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7" name="Text 785"/>
          <p:cNvSpPr/>
          <p:nvPr/>
        </p:nvSpPr>
        <p:spPr>
          <a:xfrm>
            <a:off x="3944012" y="2756917"/>
            <a:ext cx="4761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Locality and translation equivariance must be learned from data — ViT needs roughly 14M+ pretraining images to match CNN priors on the same benchmarks.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0" name="Text 788"/>
          <p:cNvSpPr/>
          <p:nvPr/>
        </p:nvSpPr>
        <p:spPr>
          <a:xfrm>
            <a:off x="3742144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1" name="Text 789"/>
          <p:cNvSpPr/>
          <p:nvPr/>
        </p:nvSpPr>
        <p:spPr>
          <a:xfrm>
            <a:off x="4382224" y="3762757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Fixed training resolution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2" name="Text 790"/>
          <p:cNvSpPr/>
          <p:nvPr/>
        </p:nvSpPr>
        <p:spPr>
          <a:xfrm>
            <a:off x="3993609" y="4174237"/>
            <a:ext cx="559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Positional embeddings are tied to the training grid. Changing resolution at inference requires interpolation, which degrades performance.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5" name="Text 793"/>
          <p:cNvSpPr/>
          <p:nvPr/>
        </p:nvSpPr>
        <p:spPr>
          <a:xfrm>
            <a:off x="3742144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6" name="Text 794"/>
          <p:cNvSpPr/>
          <p:nvPr/>
        </p:nvSpPr>
        <p:spPr>
          <a:xfrm>
            <a:off x="4382224" y="5120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Uniform patch size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7" name="Text 795"/>
          <p:cNvSpPr/>
          <p:nvPr/>
        </p:nvSpPr>
        <p:spPr>
          <a:xfrm>
            <a:off x="4062184" y="5504687"/>
            <a:ext cx="52457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multi-scale hierarchy like CNN feature pyramids. This limits performance on dense prediction tasks such as detection and segmentation.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" name="Shape 79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9" name="Text 79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ViT Reproducibility  ·  CIFAR-10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0" name="Text 798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/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767F3F-2615-753F-2A9F-950049E760B0}"/>
              </a:ext>
            </a:extLst>
          </p:cNvPr>
          <p:cNvSpPr txBox="1"/>
          <p:nvPr/>
        </p:nvSpPr>
        <p:spPr>
          <a:xfrm>
            <a:off x="3519578" y="2450898"/>
            <a:ext cx="60643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8820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1640</Words>
  <Application>Microsoft Office PowerPoint</Application>
  <PresentationFormat>Widescreen</PresentationFormat>
  <Paragraphs>327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Consolas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Image is Worth 16x16 Words — Reproducibility Study</dc:title>
  <dc:subject>PptxGenJS Presentation</dc:subject>
  <dc:creator>Reproducibility Study</dc:creator>
  <cp:lastModifiedBy>Marvin Osei-Kuffour</cp:lastModifiedBy>
  <cp:revision>3</cp:revision>
  <dcterms:created xsi:type="dcterms:W3CDTF">2026-04-19T21:43:39Z</dcterms:created>
  <dcterms:modified xsi:type="dcterms:W3CDTF">2026-04-19T22:45:43Z</dcterms:modified>
</cp:coreProperties>
</file>