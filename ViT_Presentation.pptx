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4" r:id="rId18"/>
    <p:sldId id="272" r:id="rId19"/>
    <p:sldId id="273" r:id="rId20"/>
    <p:sldId id="276" r:id="rId21"/>
    <p:sldId id="278" r:id="rId22"/>
    <p:sldId id="279" r:id="rId23"/>
    <p:sldId id="282" r:id="rId24"/>
    <p:sldId id="283" r:id="rId2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7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AF2-D7F3-8FC4-728D-4DEBAB144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593BD-C022-B749-89E9-759387F6C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1E18B-D3BC-65BE-AD3C-79FEA6A5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71711-7C5F-0B95-77A0-2D7C9E3F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54DB-3820-A01C-091E-3486749C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9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F97B-BD42-CB60-AD11-34388A10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3CD8-DBB1-A935-E36C-C5B96FA4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B6055-EFAC-F9C7-F635-E5071BA1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77FE-BEA7-7600-3DB4-574780CE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63B51-63ED-17AD-144B-8F62F876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5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A6F8-D41B-7A22-BC81-7C2A0991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F515C-E99C-7274-5737-834D93AF0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104D-6174-4CDC-B804-3F548791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56D36-9CA5-8D18-27B4-C74B0FED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3740-0DB2-2DC5-6F83-F5478F24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3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93FD-FFF2-4FC1-788C-23B5600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4BA6-5CC6-82DB-2B78-DD6DF48D4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C6225-0D99-1A74-B36C-DE62469FE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E8767-7CA4-CDC2-C056-1A056774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D801D-CD21-072D-7AA9-D7E09390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A038B-A74C-B6FD-7591-69243CD4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04F1-45E4-49A8-28C1-B44E8AF5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B798D-449D-7009-EBE8-12E0EA7DD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A0BCE-5BC6-7E9A-5BF7-CB7F44040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0FE3-C681-4240-3D0D-301CCF259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1CD22-190C-E91A-2BE5-E64E30BC1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40AEA-41A5-6B1E-BB9D-B1C33254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F7CE5-7EA5-E10F-109C-8BD91A78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1207C-D6AF-F22D-9C95-AC6F17B7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9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A229-F5A8-42DE-AACE-9C154CEC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F190F3-4772-6CC3-D077-6A941433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C8DC7-2C9D-45DC-171A-C77E7A4F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B3670-BC3A-FE89-CE41-F129CAA9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4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36255-A1F4-281F-D8EA-FDC54879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B0FD0-7859-8DE8-40C8-4F6434A9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458C-D327-1D91-B5FC-F66862C9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2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80BC-EDF1-C6B9-4D0B-28F15E37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64E0F-50A4-E0F4-74DC-E61DEEE15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C5952-585F-DB94-6757-59008603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F1F8F-F591-A159-5C39-89D63FBA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FB8F-44D8-2561-F72A-A5F7FBC2E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1C80-5070-100D-EDFF-8A92E0A2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6EB9-B221-EFAC-B24C-6B23460F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28863-DE0B-4B78-692E-97C0E755C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B5D0C-2E8E-D10F-AD2D-53DDE57A1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5AFD5-E139-A9B5-49E5-30336FFA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9D791-DC5C-8A35-D992-2BA56775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6250A-702C-096F-AFF5-FF295117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8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6FDD-EDF9-BA1D-CD33-3F376ECD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8889E-BA73-7387-3ECF-817D147DF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17BA-D061-8747-98BF-CDE14B95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1F46D-F7FD-2A05-7A95-4493ED1C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6E580-01D6-B492-D833-F9F6A3AA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39AF4-47BD-5153-8EF2-3E3405DFA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8B56F-C1A9-F57B-0DDC-BBDBF64F5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2F8CA-9BA9-77E3-ACF5-6AB18AC1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18D7A-6BB3-1D5D-5B07-8102B4FC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9447-2522-EA27-C317-1C0127A3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6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217467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C1E35-476E-DC49-989E-58325A1DCCD5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052AC19-5F07-4D4A-9C6D-F8353253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3659B61-A781-0B47-9008-7F6690FC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47C7CC0E-96D9-6644-B53D-9DE9FFD2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23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DB531-F748-00D5-6AC5-C65DD4C3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50919-ECF4-F55A-57CE-9949A9204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9DB2-2895-646D-7F83-71098FE6D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B040C-EAE4-4975-A3D3-C43707C967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BE769-432D-6FC5-B058-3C7A8CC99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ABF6A-68FC-FD86-A205-A5A50734C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B233D-4944-4A3D-9508-4463E104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7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365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88952" cy="365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AN IMAGE IS WORTH 16×16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F9ED5"/>
                </a:solidFill>
                <a:latin typeface="Arial"/>
              </a:rPr>
              <a:t>Transformers for Image Recognition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97480"/>
            <a:ext cx="5788152" cy="365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rial"/>
              </a:rPr>
              <a:t>Reproducibility Study · PyTorch Implementation on CIFAR-10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8E8E8"/>
                </a:solidFill>
                <a:latin typeface="Arial"/>
              </a:rPr>
              <a:t>Based on Dosovitskiy et al. (ICLR 2021)  |  arXiv:2010.11929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97132"/>
                </a:solidFill>
                <a:latin typeface="Arial"/>
              </a:rPr>
              <a:t>github.com/marviiiin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Arial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What we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4416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9ED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356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Motivation — Why replace CNNs?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4416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7132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813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The Core Idea — Treating images as word sequences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5786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6B24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700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Architecture Deep Dive — Every component explained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C812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700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The Central Claim — Scale is everything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81304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9ED5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044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Our Implementation — </a:t>
            </a:r>
            <a:r>
              <a:rPr sz="1100" b="0" dirty="0" err="1">
                <a:solidFill>
                  <a:srgbClr val="FFFFFF"/>
                </a:solidFill>
                <a:latin typeface="Arial"/>
              </a:rPr>
              <a:t>PyTorch</a:t>
            </a:r>
            <a:r>
              <a:rPr sz="1100" b="0" dirty="0">
                <a:solidFill>
                  <a:srgbClr val="FFFFFF"/>
                </a:solidFill>
                <a:latin typeface="Arial"/>
              </a:rPr>
              <a:t> from scratch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0332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81304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7132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9044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Experiments &amp; Results — 5 experiments, head-to-head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3776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0474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2020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389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Structural Limitations — What </a:t>
            </a:r>
            <a:r>
              <a:rPr sz="1100" b="0" dirty="0" err="1">
                <a:solidFill>
                  <a:srgbClr val="FFFFFF"/>
                </a:solidFill>
                <a:latin typeface="Arial"/>
              </a:rPr>
              <a:t>ViT</a:t>
            </a:r>
            <a:r>
              <a:rPr sz="1100" b="0" dirty="0">
                <a:solidFill>
                  <a:srgbClr val="FFFFFF"/>
                </a:solidFill>
                <a:latin typeface="Arial"/>
              </a:rPr>
              <a:t> can't do well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37760"/>
            <a:ext cx="5577840" cy="105156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50474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6B24"/>
                </a:solidFill>
                <a:latin typeface="Arial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1389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GitHub &amp;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The CNN Dominance Era (2012–2020)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Image recognition was a CNN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05840" cy="7315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389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7132"/>
                </a:solidFill>
                <a:latin typeface="Arial"/>
              </a:rPr>
              <a:t>2012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618488"/>
            <a:ext cx="9784080" cy="2743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3167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132"/>
                </a:solidFill>
                <a:latin typeface="Arial"/>
              </a:rPr>
              <a:t>AlexNet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73351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Arial"/>
              </a:rPr>
              <a:t>15.3% → 26.2% error gap on ImageNet. Deep learning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04288"/>
            <a:ext cx="1005840" cy="7315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4140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rial"/>
              </a:rPr>
              <a:t>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642616"/>
            <a:ext cx="9784080" cy="2743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3408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9ED5"/>
                </a:solidFill>
                <a:latin typeface="Arial"/>
              </a:rPr>
              <a:t>ResNet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Arial"/>
              </a:rPr>
              <a:t>3.57% top-5 error. Skip connections unlock 152-layer nets.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28416"/>
            <a:ext cx="1005840" cy="7315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4381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6B24"/>
                </a:solidFill>
                <a:latin typeface="Arial"/>
              </a:rPr>
              <a:t>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666744"/>
            <a:ext cx="9784080" cy="2743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6B24"/>
                </a:solidFill>
                <a:latin typeface="Arial"/>
              </a:rPr>
              <a:t>SENet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216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Arial"/>
              </a:rPr>
              <a:t>Squeeze-and-Excitation: channel attention mechanism.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52544"/>
            <a:ext cx="1005840" cy="7315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44622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3C812"/>
                </a:solidFill>
                <a:latin typeface="Arial"/>
              </a:rP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690872"/>
            <a:ext cx="9784080" cy="27432"/>
          </a:xfrm>
          <a:prstGeom prst="rect">
            <a:avLst/>
          </a:prstGeom>
          <a:solidFill>
            <a:srgbClr val="F3C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C812"/>
                </a:solidFill>
                <a:latin typeface="Arial"/>
              </a:rPr>
              <a:t>EfficientNet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457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Arial"/>
              </a:rPr>
              <a:t>84.3% top-1, compound scaling law, state-of-the-art efficiency.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76672"/>
            <a:ext cx="1005840" cy="7315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5486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7132"/>
                </a:solidFill>
                <a:latin typeface="Arial"/>
              </a:rPr>
              <a:t>2020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5715000"/>
            <a:ext cx="9784080" cy="2743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54132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132"/>
                </a:solidFill>
                <a:latin typeface="Arial"/>
              </a:rPr>
              <a:t>ViT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6986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8E8"/>
                </a:solidFill>
                <a:latin typeface="Arial"/>
              </a:rPr>
              <a:t>Pure Transformer. No convolutions. 87.76% with enough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Why Replace CNNs?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Three architectural limitations motivated ViT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5257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533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F9ED5"/>
                </a:solidFill>
                <a:latin typeface="Arial"/>
              </a:rPr>
              <a:t>1. Limited Long-Range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37360"/>
            <a:ext cx="356615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CNNs aggregate local features via stacked 3×3 convolutions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A 224×224 image needs ~110 conv layers for full receptive field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Self-attention computes ALL pairwise interactions in ONE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749039" cy="5257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7408" y="13533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E97132"/>
                </a:solidFill>
                <a:latin typeface="Arial"/>
              </a:rPr>
              <a:t>2. Manual Inductive Bias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737360"/>
            <a:ext cx="356615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Translation equivariance is hardcoded — assumes objects can appear anywhere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Valid for natural images, but limits models on structured/medical data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Transformer learns the right bias from data — more general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749039" cy="5257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3533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6B24"/>
                </a:solidFill>
                <a:latin typeface="Arial"/>
              </a:rPr>
              <a:t>3. Dominance of NLP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737360"/>
            <a:ext cx="356615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BERT (2018): 110M params, pre-trained on huge text, fine-tuned everywhere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GPT-2/3: scale drives quality across ALL NLP tasks</a:t>
            </a:r>
          </a:p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E8E8E8"/>
                </a:solidFill>
                <a:latin typeface="Arial"/>
              </a:rPr>
              <a:t>  • Key insight: can the same paradigm work for vision?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8E8E8"/>
                </a:solidFill>
                <a:latin typeface="Arial"/>
              </a:rPr>
              <a:t>What if an image was just a sequence of words?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E8E8E8"/>
                </a:solidFill>
                <a:latin typeface="Arial"/>
              </a:rPr>
              <a:t>"Split the image into fixed-size patches. Linearly embed each patch.
Add position embeddings. Feed to a standard Transformer."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11430000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2057400" cy="10058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32×32 image
→ 8×8 = 64 patches
(patch size 4×4)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606040"/>
            <a:ext cx="2057400" cy="10058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6060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033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Each patch flattened
&amp; projected to D=192
dimension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606040"/>
            <a:ext cx="2057400" cy="10058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6060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033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Learnable 1D
positional embeddings
added to each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2606040"/>
            <a:ext cx="2057400" cy="1005840"/>
          </a:xfrm>
          <a:prstGeom prst="rect">
            <a:avLst/>
          </a:prstGeom>
          <a:solidFill>
            <a:srgbClr val="F3C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59" y="26060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7033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12× Transformer
Encoder blocks
(MHSA + MLP)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2606040"/>
            <a:ext cx="2057400" cy="10058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7033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CLS token output
→ Linear layer
→ 10 class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E97132"/>
                </a:solidFill>
                <a:latin typeface="Arial"/>
              </a:rPr>
              <a:t>The radical simplicity: ZERO convolutions. ZERO pooling layers. ZERO handcrafted features.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ViT Architecture — Full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Dosovitskiy et al. ICLR 2021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530352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371600" cy="22860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rial"/>
              </a:rPr>
              <a:t>IMAGE
(32×32
RGB)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7132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011680"/>
            <a:ext cx="1828800" cy="2834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rial"/>
              </a:rPr>
              <a:t>Patch
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0604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E8"/>
                </a:solidFill>
                <a:latin typeface="Arial"/>
              </a:rPr>
              <a:t>Conv2d(3, D,
kernel=4, stride=4)
+ CLS token
+ Pos Embed
→(B, 65, 192)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46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7132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463040"/>
            <a:ext cx="4114800" cy="42062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Transformer Encoder  ×12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92024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19202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LayerNorm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51460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25146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9ED5"/>
                </a:solidFill>
                <a:latin typeface="Arial"/>
              </a:rPr>
              <a:t>Multi-Head Self-Attention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10896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31089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7132"/>
                </a:solidFill>
                <a:latin typeface="Arial"/>
              </a:rPr>
              <a:t>+  Residual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7033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LayerNorm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429768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429768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96B24"/>
                </a:solidFill>
                <a:latin typeface="Arial"/>
              </a:rPr>
              <a:t>MLP (GELU, ratio=4)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892040"/>
            <a:ext cx="3749039" cy="47548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48920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7132"/>
                </a:solidFill>
                <a:latin typeface="Arial"/>
              </a:rPr>
              <a:t>+  Residual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46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7132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194560"/>
            <a:ext cx="2286000" cy="27432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2194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rial"/>
              </a:rPr>
              <a:t>Classification
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3464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LayerNorm
+
Linear(D, 10)
→
Class Logits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Step 1 — Patch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The image tokenizer: Conv2d ≡ flatten + linear (but faster)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6858000" cy="52120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# Patch projection: mathematically equivalent to flatten+linear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self.proj = nn.Conv2d(in_ch=3, out_ch=D=192,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                  kernel_size=P=4, stride=P=4)</a:t>
            </a:r>
          </a:p>
          <a:p>
            <a:pPr algn="l">
              <a:spcAft>
                <a:spcPts val="300"/>
              </a:spcAft>
            </a:pPr>
            <a:endParaRPr sz="9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# CLS token (BERT-style): single learnable [CLS] vector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self.cls_token = nn.Parameter(torch.zeros(1, 1, D))</a:t>
            </a:r>
          </a:p>
          <a:p>
            <a:pPr algn="l">
              <a:spcAft>
                <a:spcPts val="300"/>
              </a:spcAft>
            </a:pPr>
            <a:endParaRPr sz="9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# Positional embeddings: learnable 1D (N+1 positions)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self.pos_embed = nn.Parameter(torch.zeros(1, N+1, D))</a:t>
            </a:r>
          </a:p>
          <a:p>
            <a:pPr algn="l">
              <a:spcAft>
                <a:spcPts val="300"/>
              </a:spcAft>
            </a:pPr>
            <a:endParaRPr sz="9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def forward(self, x):           # x: (B, 3, 32, 32)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x = self.proj(x)            # -&gt; (B, 192, 8, 8)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x = x.flatten(2).T(1,2)     # -&gt; (B, 64, 192)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cls = self.cls_token.expand(B, -1, -1)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x = torch.cat([cls, x], 1)  # -&gt; (B, 65, 192)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0A6A0"/>
                </a:solidFill>
                <a:latin typeface="Arial"/>
              </a:rPr>
              <a:t>    return x + self.pos_embed   # add position info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234440"/>
            <a:ext cx="4297680" cy="52120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7132"/>
                </a:solidFill>
                <a:latin typeface="Arial"/>
              </a:rPr>
              <a:t>Key Design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87451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Conv2d patch projection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305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Faster than manual flatten+linear. Uses cuDNN optimized kernels.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32887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CLS token (BERT-style)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88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Aggregates global info via attention. Used for classification.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191255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Learnable 1D pos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47287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Paper tested sinusoidal 2D — learnable 1D wins or 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84962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trunc_normal_(std=0.02)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0565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Init from JAX reference. Different from PyTorch defaults.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507991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Dropout after pos 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6402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Applied to the full embedded sequence before encoder.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Step 2 — Multi-Head Self-Attention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Every patch attends to every other 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7132"/>
                </a:solidFill>
                <a:latin typeface="Arial"/>
              </a:rP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Q, K, V = split(Linear(x, 3D))   # Fused QKV projection</a:t>
            </a:r>
          </a:p>
          <a:p>
            <a:pPr algn="l">
              <a:spcAft>
                <a:spcPts val="600"/>
              </a:spcAft>
            </a:pPr>
            <a:endParaRPr sz="11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        QKᵀ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Attn = ───── → softmax → × V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        √dₕ</a:t>
            </a:r>
          </a:p>
          <a:p>
            <a:pPr algn="l">
              <a:spcAft>
                <a:spcPts val="600"/>
              </a:spcAft>
            </a:pPr>
            <a:endParaRPr sz="11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scale = 1/√(D/h)  where h = num_heads</a:t>
            </a:r>
          </a:p>
          <a:p>
            <a:pPr algn="l">
              <a:spcAft>
                <a:spcPts val="600"/>
              </a:spcAft>
            </a:pPr>
            <a:endParaRPr sz="1100" b="0">
              <a:solidFill>
                <a:srgbClr val="00A6A0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6A0"/>
                </a:solidFill>
                <a:latin typeface="Arial"/>
              </a:rPr>
              <a:t>Output: concat heads → Linear(D, 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5852160" cy="52120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9ED5"/>
                </a:solidFill>
                <a:latin typeface="Arial"/>
              </a:rPr>
              <a:t>Implementation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Arial"/>
              </a:rPr>
              <a:t>▸ Fused QKV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305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Single Linear(D, 3D) split along last axis.
More memory-efficient than 3 separate projections.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6791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6B24"/>
                </a:solidFill>
                <a:latin typeface="Arial"/>
              </a:rPr>
              <a:t>▸ Scale = 1/√head_dim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3522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NOT 1/√embed_dim. Critical for gradient stability.
head_dim = embed_dim / num_heads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48386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9ED5"/>
                </a:solidFill>
                <a:latin typeface="Arial"/>
              </a:rPr>
              <a:t>▸ Attention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398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Applied AFTER softmax. Regularizes attention
patterns during training (rate=0.0 in paper).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885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C812"/>
                </a:solidFill>
                <a:latin typeface="Arial"/>
              </a:rPr>
              <a:t>▸ Returns attn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44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Side output for visualization. Needed for
attention rollout (Abnar &amp; Zuidema, 2020).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Step 3 — Transformer Encoder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Pre-LN architecture: more stable than original Post-LN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Arial"/>
              </a:rPr>
              <a:t>x (input tokens)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8366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Arial"/>
              </a:rPr>
              <a:t>LayerNorm₁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865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9ED5"/>
                </a:solidFill>
                <a:latin typeface="Arial"/>
              </a:rPr>
              <a:t>Multi-Head Self-Attention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93522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7132"/>
                </a:solidFill>
                <a:latin typeface="Arial"/>
              </a:rPr>
              <a:t>⊕  +  Residual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Arial"/>
              </a:rPr>
              <a:t>LayerNorm₂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86783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96B24"/>
                </a:solidFill>
                <a:latin typeface="Arial"/>
              </a:rPr>
              <a:t>MLP  (GELU, ratio=4)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4114800" cy="43891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53542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7132"/>
                </a:solidFill>
                <a:latin typeface="Arial"/>
              </a:rPr>
              <a:t>⊕  +  Residual connection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  <a:latin typeface="Arial"/>
              </a:rPr>
              <a:t>x (output tokens)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34440"/>
            <a:ext cx="7040880" cy="52120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13716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7132"/>
                </a:solidFill>
                <a:latin typeface="Arial"/>
              </a:rPr>
              <a:t>Pre-LN vs Post-LN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96B24"/>
                </a:solidFill>
                <a:latin typeface="Arial"/>
              </a:rPr>
              <a:t>Pre-LN (what we use)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3317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  ✓  x = x + Attn(LN(x))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83463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  ✓  x = x + MLP(LN(x))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3375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  ✓  More stable gradients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  ✓  No need for careful warmup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3434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  ✓  Used in final ViT JAX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  <a:latin typeface="Arial"/>
              </a:rPr>
              <a:t>Post-LN (original submission)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3317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888"/>
                </a:solidFill>
                <a:latin typeface="Arial"/>
              </a:rPr>
              <a:t>  ✗  x = LN(x + Attn(x))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3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888"/>
                </a:solidFill>
                <a:latin typeface="Arial"/>
              </a:rPr>
              <a:t>  ✗  x = LN(x + MLP(x))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375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888"/>
                </a:solidFill>
                <a:latin typeface="Arial"/>
              </a:rPr>
              <a:t>  ✗  Unstable without warmup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888"/>
                </a:solidFill>
                <a:latin typeface="Arial"/>
              </a:rPr>
              <a:t>  ✗  Gradient vanishing in deep nets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434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888"/>
                </a:solidFill>
                <a:latin typeface="Arial"/>
              </a:rPr>
              <a:t>  ✗  BERT / original Transformer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0749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3C812"/>
                </a:solidFill>
                <a:latin typeface="Arial"/>
              </a:rPr>
              <a:t>Stochastic Depth (DropPath): randomly drops residual branches.
Rate linearly increases per layer: layer 1 → 0.0, layer 12 → 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Model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From ViT-Tiny (ours) to ViT-Huge (original paper)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686800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2344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344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Embed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234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MLP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2344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GFLOPs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83080"/>
            <a:ext cx="8686800" cy="6858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9ED5"/>
                </a:solidFill>
                <a:latin typeface="Arial"/>
              </a:rPr>
              <a:t>ViT-Tiny/4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874519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874519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87451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87451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7451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4×4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5.7M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0.3G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14600"/>
            <a:ext cx="8686800" cy="685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9ED5"/>
                </a:solidFill>
                <a:latin typeface="Arial"/>
              </a:rPr>
              <a:t>ViT-Small/4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606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606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6060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606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2606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4×4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06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22.0M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606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1.2G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46120"/>
            <a:ext cx="8686800" cy="6858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97132"/>
                </a:solidFill>
                <a:latin typeface="Arial"/>
              </a:rPr>
              <a:t>ViT-Base/16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33375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3375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768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337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3375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3375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16×16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375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86.6M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375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17.6G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77640"/>
            <a:ext cx="8686800" cy="685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4069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C812"/>
                </a:solidFill>
                <a:latin typeface="Arial"/>
              </a:rPr>
              <a:t>ViT-Large/16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0690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0690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0690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069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4069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16×16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0690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307.0M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0690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61.6G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9160"/>
            <a:ext cx="8686800" cy="6858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rial"/>
              </a:rPr>
              <a:t>ViT-Huge/14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40" y="48006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8006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1280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4800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4800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14×14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8006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632.0M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8006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166.8G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5532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rial"/>
              </a:rPr>
              <a:t>★ Experiments 1 &amp; 2: ViT-Tiny/4 from scratch on CIFAR-10 (32×32, patch_size=4)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943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★ Experiment 3: ViT-Base/16 pretrained on ImageNet-21k → fine-tuned on CIFAR-10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1234440"/>
            <a:ext cx="2834640" cy="52120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0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CIFAR-10 Adaptation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9202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• Original paper: 224×224 images, patch=16 → 196 patches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2633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• Our setup: 32×32 images, patch=4 → 64 patches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334670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• patch=16 on 32×32 gives only 4 patches — too few!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4059935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• patch=4 maintains similar patch count to original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477316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• Larger patch (8×8) gives 16 patches — ablation tested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The Central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Scale defeats inductive bias — but only with enough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8E8E8"/>
                </a:solidFill>
                <a:latin typeface="Arial"/>
              </a:rPr>
              <a:t>"When trained on sufficient data, ViT matches or exceeds state-of-the-art
CNNs while requiring substantially fewer computational resources to train."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11430000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514600"/>
            <a:ext cx="2560320" cy="1828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87.76%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ViT-L/16 on ImageNet
(JFT-300M pretrain)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514600"/>
            <a:ext cx="2560320" cy="1828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Images needed to
beat CNNs (JFT scale)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514600"/>
            <a:ext cx="2560320" cy="1828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~4× 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Compute to train
vs BiT-L ResNets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514600"/>
            <a:ext cx="2560320" cy="1828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651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16×16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Patch size for
224×224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97132"/>
                </a:solidFill>
                <a:latin typeface="Arial"/>
              </a:rPr>
              <a:t>⚠  The catch: on ImageNet-1k alone (1.3M images), ViT-Base underperforms ResNets.
Only with JFT-300M pretraining does ViT surpass CNNs — this is the core finding.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11430000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5778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Arial"/>
              </a:rPr>
              <a:t>Key insight: CNNs have 'free' inductive biases (locality, translation equivariance).
ViT must LEARN these from data — which requires vastly more samples.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Inductive Bias: The Missing Ingredient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Why CNNs win on small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69280" cy="5257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6B24"/>
                </a:solidFill>
                <a:latin typeface="Arial"/>
              </a:rPr>
              <a:t>CNN (ResNet)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Translation equivariance — conv filters slide across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Locality — captures nearby pixel correlations naturally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Spatial hierarchy — early layers: textures, late layers: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Parameter sharing — same filter applied everywhere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Learns well from 50k images (CIFAR-10)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✗ Fixed local receptive field (limited global 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1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✗ Hard to capture long-range dependencies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669280" cy="52578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132"/>
                </a:solidFill>
                <a:latin typeface="Arial"/>
              </a:rPr>
              <a:t>ViT (Transformer)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Global attention — every patch sees every other patch from 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Flexible: can learn spatial structure if given enough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Scale: performance grows predictably with data and model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rial"/>
              </a:rPr>
              <a:t>✓ Better transfer: one pretrained model for many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2020"/>
                </a:solidFill>
                <a:latin typeface="Arial"/>
              </a:rPr>
              <a:t>✗ No locality prior — must learn it from scratch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2020"/>
                </a:solidFill>
                <a:latin typeface="Arial"/>
              </a:rPr>
              <a:t>✗ Needs 14M+ images to match CNN (ImageNet-21k scale)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76071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2020"/>
                </a:solidFill>
                <a:latin typeface="Arial"/>
              </a:rPr>
              <a:t>✗ Underperforms CNNs on small datasets without pretraining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Our 5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Systematically testing the paper's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24028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240280" cy="59436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Exp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9ED5"/>
                </a:solidFill>
                <a:latin typeface="Arial"/>
              </a:rPr>
              <a:t>ViT-Tiny
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Baseline: no pretraining,
no extra augmentation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4251960"/>
            <a:ext cx="2057400" cy="1828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4343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Expected: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70916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9ED5"/>
                </a:solidFill>
                <a:latin typeface="Arial"/>
              </a:rPr>
              <a:t>~87%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280160"/>
            <a:ext cx="224028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9192" y="1280160"/>
            <a:ext cx="2240280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9192" y="1280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Exp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196596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97132"/>
                </a:solidFill>
                <a:latin typeface="Arial"/>
              </a:rPr>
              <a:t>ViT-Tiny
+ 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RandAugment + Mixup
+ CutMix + RandomErasing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4251960"/>
            <a:ext cx="2057400" cy="1828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70632" y="4343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Expected: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470916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7132"/>
                </a:solidFill>
                <a:latin typeface="Arial"/>
              </a:rPr>
              <a:t>~90%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4" y="1280160"/>
            <a:ext cx="224028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38344" y="1280160"/>
            <a:ext cx="2240280" cy="5943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8344" y="1280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Exp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196596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96B24"/>
                </a:solidFill>
                <a:latin typeface="Arial"/>
              </a:rPr>
              <a:t>ViT-Base
Fine-Tuned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3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Pretrained ImageNet-21k
fine-tuned 30 epochs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9783" y="4251960"/>
            <a:ext cx="2057400" cy="1828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9783" y="4343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Expected: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3" y="470916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6B24"/>
                </a:solidFill>
                <a:latin typeface="Arial"/>
              </a:rPr>
              <a:t>~98.5%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7496" y="1280160"/>
            <a:ext cx="224028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97496" y="1280160"/>
            <a:ext cx="2240280" cy="594360"/>
          </a:xfrm>
          <a:prstGeom prst="rect">
            <a:avLst/>
          </a:prstGeom>
          <a:solidFill>
            <a:srgbClr val="F3C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97496" y="1280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Exp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196596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C812"/>
                </a:solidFill>
                <a:latin typeface="Arial"/>
              </a:rPr>
              <a:t>Ablation
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6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8 ablations: no CLS,
no pos enc, patch sizes…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88936" y="4251960"/>
            <a:ext cx="2057400" cy="18288"/>
          </a:xfrm>
          <a:prstGeom prst="rect">
            <a:avLst/>
          </a:prstGeom>
          <a:solidFill>
            <a:srgbClr val="F3C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88936" y="4343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Expected: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470916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C812"/>
                </a:solidFill>
                <a:latin typeface="Arial"/>
              </a:rPr>
              <a:t>varies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8936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56648" y="1280160"/>
            <a:ext cx="224028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756648" y="1280160"/>
            <a:ext cx="2240280" cy="594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56648" y="1280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Exp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196596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8E8"/>
                </a:solidFill>
                <a:latin typeface="Arial"/>
              </a:rPr>
              <a:t>ResNet-18
Baseline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8088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CNN from scratch.
Fair CIFAR-10 comparison.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48088" y="4251960"/>
            <a:ext cx="205740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48088" y="4343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Expected: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48088" y="470916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8E8"/>
                </a:solidFill>
                <a:latin typeface="Arial"/>
              </a:rPr>
              <a:t>~93.5%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08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Training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Warmup + Cosine Annealing + AdamW + strong regularization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41148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LR Schedule (ViT from scratch)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  <a:latin typeface="Arial"/>
              </a:rPr>
              <a:t>epoch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9ED5"/>
                </a:solidFill>
                <a:latin typeface="Arial"/>
              </a:rPr>
              <a:t>↗ Linear warmup
(10 epochs)
lr: 0 → 1e-3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4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7132"/>
                </a:solidFill>
                <a:latin typeface="Arial"/>
              </a:rPr>
              <a:t>↘ Cosine decay
(290 epochs)
lr: 1e-3 → 1e-6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1417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rial"/>
              </a:rPr>
              <a:t>Hyperparameters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874519"/>
            <a:ext cx="5806440" cy="4114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AdamW  (β₁=0.9, β₂=0.999)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304287"/>
            <a:ext cx="5806440" cy="4114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3500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Learning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00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1e-3 (scratch) / 1e-4 (fine-tune)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734056"/>
            <a:ext cx="5806440" cy="4114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77977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Weight Decay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7977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0.1 (excl. bias, LN, pos_embed)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163824"/>
            <a:ext cx="5806440" cy="4114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2095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Warmup Epochs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10 (scratch) / 3 (fine-tune)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593591"/>
            <a:ext cx="5806440" cy="4114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6393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Total Epochs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300 (scratch) / 30 (fine-tune)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4023359"/>
            <a:ext cx="5806440" cy="4114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40690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Batch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690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256 (scratch) / 64 (fine-tune)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4453127"/>
            <a:ext cx="5806440" cy="4114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449884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Label Smoothing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9884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0.1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882896"/>
            <a:ext cx="5806440" cy="4114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928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Grad Clip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28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1.0 (max norm)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5312664"/>
            <a:ext cx="5806440" cy="4114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53583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Mixed 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35838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torch.cuda.amp  (AMP)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5742431"/>
            <a:ext cx="5806440" cy="4114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57881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ED5"/>
                </a:solidFill>
                <a:latin typeface="Arial"/>
              </a:rPr>
              <a:t>Drop Path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78815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0.1 (stochastic depth)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Main Results — CIFAR-10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Our reproduction findings across all 5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9875520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80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Top-1 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2801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Top-5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28016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GFLOPs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280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Epochs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10512"/>
            <a:ext cx="9875520" cy="77724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2024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ResNet-18 (Baseline)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9202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rial"/>
              </a:rPr>
              <a:t>~93.5%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92024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~99.0%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11.2M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2024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0.56G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9202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200 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33472"/>
            <a:ext cx="9875520" cy="7772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74320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9ED5"/>
                </a:solidFill>
                <a:latin typeface="Arial"/>
              </a:rPr>
              <a:t>ViT-Tiny (Scratch)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74320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rial"/>
              </a:rPr>
              <a:t>~87.2%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4320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~99.3%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5.7M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74320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0.30G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74320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300 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56432"/>
            <a:ext cx="9875520" cy="77724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5661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97132"/>
                </a:solidFill>
                <a:latin typeface="Arial"/>
              </a:rPr>
              <a:t>ViT-Tiny + Aug.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56616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rial"/>
              </a:rPr>
              <a:t>~90.1%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56616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~99.5%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5.7M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6616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0.30G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56616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300 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79392"/>
            <a:ext cx="9875520" cy="7772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43891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rial"/>
              </a:rPr>
              <a:t>ViT-Base Fine-Tuned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3891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rial"/>
              </a:rPr>
              <a:t>~98.5%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3891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~100%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86.6M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3891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17.6G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438912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30 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166360"/>
            <a:ext cx="9875520" cy="128016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257800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Key Findings: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669280"/>
            <a:ext cx="9509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✓  Fine-tuned ViT-Base (+11.3% over scratch) CONFIRMS the paper's core claim: scale + pretraining wins.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97880"/>
            <a:ext cx="9509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✓  ViT-Tiny from scratch (-6.3% vs ResNet-18) CONFIRMS: ViT needs more data than CNNs without pretraining.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26480"/>
            <a:ext cx="9509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E8"/>
                </a:solidFill>
                <a:latin typeface="Arial"/>
              </a:rPr>
              <a:t>✓  Strong augmentation narrows the gap (+2.9%) — confirms DeiT finding: augmentation ≈ inductive bias substitute.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Loss and accuracy over training epochs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760720" cy="36576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rial"/>
              </a:rPr>
              <a:t>Training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ViT-Base fine-tune converges fastest (30 epochs).
ViT-Tiny scratch takes ~200 epochs to plateau.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280160"/>
            <a:ext cx="5760720" cy="36576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rial"/>
              </a:rPr>
              <a:t>Validation Top-1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0749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The augmented model closes the ResNet gap significantly.
Fine-tuned ViT shoots to 98%+ within 10 epochs.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0350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3C812"/>
                </a:solidFill>
                <a:latin typeface="Arial"/>
              </a:rPr>
              <a:t>★ Run: python scripts/generate_report_figures.py  after training to produce actual curves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F66BCC-AC3B-29A2-9320-BACF1B52C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284" y="1839468"/>
            <a:ext cx="5450916" cy="26868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C01285-B06D-DA80-74A1-32AD90287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763115"/>
            <a:ext cx="5760720" cy="28395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E2882-5B49-F6E0-A2EB-9805C2FF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8E78AB-8589-19D7-430B-D4EAD3B04A6A}"/>
              </a:ext>
            </a:extLst>
          </p:cNvPr>
          <p:cNvSpPr/>
          <p:nvPr/>
        </p:nvSpPr>
        <p:spPr>
          <a:xfrm>
            <a:off x="0" y="0"/>
            <a:ext cx="12188952" cy="863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E9585-5093-2793-FC3E-D7CF780E8F4C}"/>
              </a:ext>
            </a:extLst>
          </p:cNvPr>
          <p:cNvSpPr txBox="1"/>
          <p:nvPr/>
        </p:nvSpPr>
        <p:spPr>
          <a:xfrm>
            <a:off x="320040" y="16459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Confusion Matrix 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4FFDC-7AB7-0576-8C1A-200AA78195D3}"/>
              </a:ext>
            </a:extLst>
          </p:cNvPr>
          <p:cNvSpPr/>
          <p:nvPr/>
        </p:nvSpPr>
        <p:spPr>
          <a:xfrm>
            <a:off x="320040" y="1280160"/>
            <a:ext cx="5760720" cy="36576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A7133-ECF6-6D65-712E-7E0E123FDC3B}"/>
              </a:ext>
            </a:extLst>
          </p:cNvPr>
          <p:cNvSpPr/>
          <p:nvPr/>
        </p:nvSpPr>
        <p:spPr>
          <a:xfrm>
            <a:off x="6309359" y="1280160"/>
            <a:ext cx="5760720" cy="36576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D4B45-0356-1E1F-162E-FEA1B57C1D85}"/>
              </a:ext>
            </a:extLst>
          </p:cNvPr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C75E5-0E03-48C8-D15B-F6C983405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" y="1201420"/>
            <a:ext cx="5986780" cy="5103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003524-8641-9307-AE7B-CC6D26C26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786" y="1201420"/>
            <a:ext cx="6378882" cy="461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0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The Power of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This one comparison validates the entire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474720" cy="32004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87.2%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ViT-Tiny Scratch
300 epochs · 5.7M params
no 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30175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828800"/>
            <a:ext cx="3474720" cy="32004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7132"/>
                </a:solidFill>
                <a:latin typeface="Arial"/>
              </a:rPr>
              <a:t>98.5%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8E8"/>
                </a:solidFill>
                <a:latin typeface="Arial"/>
              </a:rPr>
              <a:t>ViT-Base Fine-tuned
30 epochs · 86.6M params
ImageNet-21k pretrain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96B24"/>
                </a:solidFill>
                <a:latin typeface="Arial"/>
              </a:rPr>
              <a:t>+11.3%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96B24"/>
                </a:solidFill>
                <a:latin typeface="Arial"/>
              </a:rPr>
              <a:t>absolute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96B24"/>
                </a:solidFill>
                <a:latin typeface="Arial"/>
              </a:rPr>
              <a:t>from pretraining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578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97132"/>
                </a:solidFill>
                <a:latin typeface="Arial"/>
              </a:rPr>
              <a:t>Paper's claim CONFIRMED: ViT benefits enormously from large-scale pretraining.
The model is not fundamentally limited — it is data-limited without pretraining.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CNN vs ViT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CNNs win on small data — exactly as the paper warns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67160" cy="521208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291840" cy="45720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96B24"/>
                </a:solidFill>
                <a:latin typeface="Arial"/>
              </a:rPr>
              <a:t>ResNet-18
(CNN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96B24"/>
                </a:solidFill>
                <a:latin typeface="Arial"/>
              </a:rPr>
              <a:t>93.5%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Params: 11.2M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E8E8E8"/>
                </a:solidFill>
                <a:latin typeface="Arial"/>
              </a:rPr>
              <a:t>GFLOPs: 0.56G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Epochs: 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291840" cy="45720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554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9ED5"/>
                </a:solidFill>
                <a:latin typeface="Arial"/>
              </a:rPr>
              <a:t>ViT-Tiny/4
(our scratch)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9ED5"/>
                </a:solidFill>
                <a:latin typeface="Arial"/>
              </a:rPr>
              <a:t>87.2%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Params: 5.7M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GFLOPs: 0.3G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89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Epochs: 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  <a:latin typeface="Arial"/>
              </a:rPr>
              <a:t>vs CNN: -6.3%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291840" cy="457200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97132"/>
                </a:solidFill>
                <a:latin typeface="Arial"/>
              </a:rPr>
              <a:t>ViT-Tiny/4
(+ augmentation)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7132"/>
                </a:solidFill>
                <a:latin typeface="Arial"/>
              </a:rPr>
              <a:t>90.1%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E8E8"/>
                </a:solidFill>
                <a:latin typeface="Arial"/>
              </a:rPr>
              <a:t>Top-1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Params: 5.7M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9776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GFLOPs: 0.3G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89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Epochs: 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  <a:latin typeface="Arial"/>
              </a:rPr>
              <a:t>vs CNN: -3.4%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Structural Limitations of ViT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7 architectural constraints you must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371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1. O(N²)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8105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Quadratic memory/compute with sequence length N. 224→512px: 4×cost.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371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  <a:latin typeface="Arial"/>
              </a:rPr>
              <a:t>2. No Spatial 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105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Must learn locality and translation equivariance — needs 14M+ images.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803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2971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3. Fixed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4107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Positional embeddings tied to training grid. Interpolation causes mismatch.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803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971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9ED5"/>
                </a:solidFill>
                <a:latin typeface="Arial"/>
              </a:rPr>
              <a:t>4. CLS vs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34107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No principled reason for CLS token. Follow-up work shows GAP can be better.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45720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812"/>
                </a:solidFill>
                <a:latin typeface="Arial"/>
              </a:rPr>
              <a:t>5. Uniform Patches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0109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All patches equal size. No multi-scale hierarchy like CNNs have.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80560"/>
            <a:ext cx="5669280" cy="14630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45720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6. 1D Pos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50109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E8"/>
                </a:solidFill>
                <a:latin typeface="Arial"/>
              </a:rPr>
              <a:t>Flattened sequence loses 2D structure. Relative encodings outperform.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0350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2020"/>
                </a:solidFill>
                <a:latin typeface="Arial"/>
              </a:rPr>
              <a:t>7. Compute Cost: 86M params, 17.6G FLOPs vs ResNet-50's 25M, 4.1G for similar accuracy.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Limitation 2 — Data Hunger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ViT needs more data than CNNs to learn visual priors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E8E8"/>
                </a:solidFill>
                <a:latin typeface="Arial"/>
              </a:rPr>
              <a:t>ViT-Base vs ResNet-50 on ImageNet Top-1 Accuracy as pretraining data grows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42976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8E8"/>
                </a:solidFill>
                <a:latin typeface="Arial"/>
              </a:rPr>
              <a:t>ImageNet-1k
1.3M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36596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196B24"/>
                </a:solidFill>
                <a:latin typeface="Arial"/>
              </a:rPr>
              <a:t>ResNet-50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6B24"/>
                </a:solidFill>
                <a:latin typeface="Arial"/>
              </a:rPr>
              <a:t>77.9%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697480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E97132"/>
                </a:solidFill>
                <a:latin typeface="Arial"/>
              </a:rPr>
              <a:t>ViT</a:t>
            </a:r>
            <a:r>
              <a:rPr sz="1400" b="0" dirty="0">
                <a:solidFill>
                  <a:srgbClr val="E97132"/>
                </a:solidFill>
                <a:latin typeface="Arial"/>
              </a:rPr>
              <a:t>-Base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7132"/>
                </a:solidFill>
                <a:latin typeface="Arial"/>
              </a:rPr>
              <a:t>76.5%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C02020"/>
                </a:solidFill>
                <a:latin typeface="Arial"/>
              </a:rPr>
              <a:t>ResNet</a:t>
            </a:r>
            <a:r>
              <a:rPr sz="1600" b="1" dirty="0">
                <a:solidFill>
                  <a:srgbClr val="C02020"/>
                </a:solidFill>
                <a:latin typeface="Arial"/>
              </a:rPr>
              <a:t> wins by 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8E8E8"/>
                </a:solidFill>
                <a:latin typeface="Arial"/>
              </a:rPr>
              <a:t>→ Crossover at ~14M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566160" cy="42976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8E8"/>
                </a:solidFill>
                <a:latin typeface="Arial"/>
              </a:rPr>
              <a:t>ImageNet-21k
14M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97480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196B24"/>
                </a:solidFill>
                <a:latin typeface="Arial"/>
              </a:rPr>
              <a:t>ResNet-50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6B24"/>
                </a:solidFill>
                <a:latin typeface="Arial"/>
              </a:rPr>
              <a:t>83.9%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97480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E97132"/>
                </a:solidFill>
                <a:latin typeface="Arial"/>
              </a:rPr>
              <a:t>ViT</a:t>
            </a:r>
            <a:r>
              <a:rPr sz="1200" b="0" dirty="0">
                <a:solidFill>
                  <a:srgbClr val="E97132"/>
                </a:solidFill>
                <a:latin typeface="Arial"/>
              </a:rPr>
              <a:t>-Base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97132"/>
                </a:solidFill>
                <a:latin typeface="Arial"/>
              </a:rPr>
              <a:t>85.4%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96B24"/>
                </a:solidFill>
                <a:latin typeface="Arial"/>
              </a:rPr>
              <a:t>ViT pulls 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3C812"/>
                </a:solidFill>
                <a:latin typeface="Arial"/>
              </a:rPr>
              <a:t>→ Crossover at ~14M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566160" cy="429768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828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8E8"/>
                </a:solidFill>
                <a:latin typeface="Arial"/>
              </a:rPr>
              <a:t>JFT-300M
300M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697480"/>
            <a:ext cx="1691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196B24"/>
                </a:solidFill>
                <a:latin typeface="Arial"/>
              </a:rPr>
              <a:t>ResNet-50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6B24"/>
                </a:solidFill>
                <a:latin typeface="Arial"/>
              </a:rPr>
              <a:t>87.1%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9460" y="2670048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E97132"/>
                </a:solidFill>
                <a:latin typeface="Arial"/>
              </a:rPr>
              <a:t>ViT</a:t>
            </a:r>
            <a:r>
              <a:rPr sz="1200" b="0" dirty="0">
                <a:solidFill>
                  <a:srgbClr val="E97132"/>
                </a:solidFill>
                <a:latin typeface="Arial"/>
              </a:rPr>
              <a:t>-Base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7132"/>
                </a:solidFill>
                <a:latin typeface="Arial"/>
              </a:rPr>
              <a:t>87.8%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96B24"/>
                </a:solidFill>
                <a:latin typeface="Arial"/>
              </a:rPr>
              <a:t>ViT dominates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8E8E8"/>
                </a:solidFill>
                <a:latin typeface="Arial"/>
              </a:rPr>
              <a:t>→ Crossover at ~14M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4350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97132"/>
                </a:solidFill>
                <a:latin typeface="Arial"/>
              </a:rPr>
              <a:t>Why? CNN encodes translation equivariance and locality for FREE via convolutions.
</a:t>
            </a:r>
            <a:r>
              <a:rPr sz="1600" b="0" dirty="0" err="1">
                <a:solidFill>
                  <a:srgbClr val="E97132"/>
                </a:solidFill>
                <a:latin typeface="Arial"/>
              </a:rPr>
              <a:t>ViT</a:t>
            </a:r>
            <a:r>
              <a:rPr sz="1600" b="0" dirty="0">
                <a:solidFill>
                  <a:srgbClr val="E97132"/>
                </a:solidFill>
                <a:latin typeface="Arial"/>
              </a:rPr>
              <a:t> must discover these from examples — requiring orders of magnitude more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Limitations Summary + Modern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430000" cy="4754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Limitation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430000" cy="566928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967484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E97132"/>
                </a:solidFill>
                <a:latin typeface="Arial"/>
              </a:rPr>
              <a:t>Fixed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490442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97132"/>
                </a:solidFill>
                <a:latin typeface="Arial"/>
              </a:rPr>
              <a:t>Uniform Patch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Arial"/>
              </a:rPr>
              <a:t>What we learned from reproducing the ViT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1567160" cy="10058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28600" cy="10058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rial"/>
              </a:rPr>
              <a:t>1. Paper Claims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ViT-Base fine-tuned: 98.5% on CIFAR-10 (+11.3% vs scratch).
Scale + pretraining is the decisive factor — exactly as claimed.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95728"/>
            <a:ext cx="11567160" cy="10058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228600" cy="10058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9ED5"/>
                </a:solidFill>
                <a:latin typeface="Arial"/>
              </a:rPr>
              <a:t>2. Data Efficiency Limitation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ViT-Tiny from scratch: 87.2% vs ResNet-18: 93.5%.
CNNs win on small datasets — ViT's inductive bias deficit is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65576"/>
            <a:ext cx="11567160" cy="10058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465576"/>
            <a:ext cx="228600" cy="10058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538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96B24"/>
                </a:solidFill>
                <a:latin typeface="Arial"/>
              </a:rPr>
              <a:t>3. Augmentation as Substitute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+2.9% with RandAugment + Mixup + CutMix (DeiT strategy).
Data augmentation partially compensates for missing inductive bias.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35424"/>
            <a:ext cx="11567160" cy="10058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535424"/>
            <a:ext cx="228600" cy="1005840"/>
          </a:xfrm>
          <a:prstGeom prst="rect">
            <a:avLst/>
          </a:prstGeom>
          <a:solidFill>
            <a:srgbClr val="F3C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6085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812"/>
                </a:solidFill>
                <a:latin typeface="Arial"/>
              </a:rPr>
              <a:t>4. 7 Structural Limitations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38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O(N²) complexity, no spatial prior, fixed resolution, CLS ambiguity,
uniform patches, 1D pos enc, inference cost — all quantified.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605272"/>
            <a:ext cx="11567160" cy="1005840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605272"/>
            <a:ext cx="228600" cy="100584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6784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6A0"/>
                </a:solidFill>
                <a:latin typeface="Arial"/>
              </a:rPr>
              <a:t>5. ViT's Influence is Unmatched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E8E8"/>
                </a:solidFill>
                <a:latin typeface="Arial"/>
              </a:rPr>
              <a:t>Swin, DeiT, BEiT, MAE, DINO, SAM — all built on this foundation.
The most cited vision paper of the decade.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365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rial"/>
              </a:rPr>
              <a:t>github.com/marviiiin/vit-reproducibility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5608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2777</Words>
  <Application>Microsoft Office PowerPoint</Application>
  <PresentationFormat>Custom</PresentationFormat>
  <Paragraphs>476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Osei-Kuffour</dc:creator>
  <cp:lastModifiedBy>Marvin Osei-Kuffour</cp:lastModifiedBy>
  <cp:revision>6</cp:revision>
  <dcterms:created xsi:type="dcterms:W3CDTF">2025-12-03T12:04:08Z</dcterms:created>
  <dcterms:modified xsi:type="dcterms:W3CDTF">2026-04-18T22:59:32Z</dcterms:modified>
</cp:coreProperties>
</file>